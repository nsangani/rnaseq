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7" r:id="rId2"/>
    <p:sldMasterId id="2147483752" r:id="rId3"/>
  </p:sldMasterIdLst>
  <p:notesMasterIdLst>
    <p:notesMasterId r:id="rId28"/>
  </p:notesMasterIdLst>
  <p:sldIdLst>
    <p:sldId id="257" r:id="rId4"/>
    <p:sldId id="265" r:id="rId5"/>
    <p:sldId id="259" r:id="rId6"/>
    <p:sldId id="261" r:id="rId7"/>
    <p:sldId id="262" r:id="rId8"/>
    <p:sldId id="273" r:id="rId9"/>
    <p:sldId id="264" r:id="rId10"/>
    <p:sldId id="278" r:id="rId11"/>
    <p:sldId id="280" r:id="rId12"/>
    <p:sldId id="272" r:id="rId13"/>
    <p:sldId id="274" r:id="rId14"/>
    <p:sldId id="277" r:id="rId15"/>
    <p:sldId id="266" r:id="rId16"/>
    <p:sldId id="281" r:id="rId17"/>
    <p:sldId id="267" r:id="rId18"/>
    <p:sldId id="276" r:id="rId19"/>
    <p:sldId id="268" r:id="rId20"/>
    <p:sldId id="270" r:id="rId21"/>
    <p:sldId id="269" r:id="rId22"/>
    <p:sldId id="271" r:id="rId23"/>
    <p:sldId id="282" r:id="rId24"/>
    <p:sldId id="284" r:id="rId25"/>
    <p:sldId id="283" r:id="rId26"/>
    <p:sldId id="26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052" autoAdjust="0"/>
  </p:normalViewPr>
  <p:slideViewPr>
    <p:cSldViewPr snapToGrid="0">
      <p:cViewPr>
        <p:scale>
          <a:sx n="69" d="100"/>
          <a:sy n="69" d="100"/>
        </p:scale>
        <p:origin x="2208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ga\OneDrive\Desktop\Research\Janga_Lab\DR\mRNA\CMG_SEQUENCING_SAMPLE_INFO_mRNA%20group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sz="2400" b="1" dirty="0"/>
              <a:t>Reads (in million) per condition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stats!$B$33</c:f>
              <c:strCache>
                <c:ptCount val="1"/>
                <c:pt idx="0">
                  <c:v>M Seqs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stats!$A$34:$A$61</c:f>
              <c:strCache>
                <c:ptCount val="28"/>
                <c:pt idx="0">
                  <c:v>Control</c:v>
                </c:pt>
                <c:pt idx="1">
                  <c:v>Control</c:v>
                </c:pt>
                <c:pt idx="2">
                  <c:v>Control</c:v>
                </c:pt>
                <c:pt idx="3">
                  <c:v>Control</c:v>
                </c:pt>
                <c:pt idx="4">
                  <c:v>Mild NPDR</c:v>
                </c:pt>
                <c:pt idx="5">
                  <c:v>Mild NPDR</c:v>
                </c:pt>
                <c:pt idx="6">
                  <c:v>Mild NPDR</c:v>
                </c:pt>
                <c:pt idx="7">
                  <c:v>Mild NPDR</c:v>
                </c:pt>
                <c:pt idx="8">
                  <c:v>Diabetic/DM</c:v>
                </c:pt>
                <c:pt idx="9">
                  <c:v>Diabetic/DM</c:v>
                </c:pt>
                <c:pt idx="10">
                  <c:v>Diabetic/DM</c:v>
                </c:pt>
                <c:pt idx="11">
                  <c:v>Diabetic/DM</c:v>
                </c:pt>
                <c:pt idx="12">
                  <c:v>Severe NPDR</c:v>
                </c:pt>
                <c:pt idx="13">
                  <c:v>Severe NPDR</c:v>
                </c:pt>
                <c:pt idx="14">
                  <c:v>Severe NPDR</c:v>
                </c:pt>
                <c:pt idx="15">
                  <c:v>Severe NPDR</c:v>
                </c:pt>
                <c:pt idx="16">
                  <c:v>Severe NPDR</c:v>
                </c:pt>
                <c:pt idx="17">
                  <c:v>Severe NPDR</c:v>
                </c:pt>
                <c:pt idx="18">
                  <c:v>Severe NPDR</c:v>
                </c:pt>
                <c:pt idx="19">
                  <c:v>Severe NPDR</c:v>
                </c:pt>
                <c:pt idx="20">
                  <c:v>PDR</c:v>
                </c:pt>
                <c:pt idx="21">
                  <c:v>PDR</c:v>
                </c:pt>
                <c:pt idx="22">
                  <c:v>PDR</c:v>
                </c:pt>
                <c:pt idx="23">
                  <c:v>PDR</c:v>
                </c:pt>
                <c:pt idx="24">
                  <c:v>PDR</c:v>
                </c:pt>
                <c:pt idx="25">
                  <c:v>PDR</c:v>
                </c:pt>
                <c:pt idx="26">
                  <c:v>PDR</c:v>
                </c:pt>
                <c:pt idx="27">
                  <c:v>PDR</c:v>
                </c:pt>
              </c:strCache>
            </c:strRef>
          </c:cat>
          <c:val>
            <c:numRef>
              <c:f>stats!$B$34:$B$61</c:f>
              <c:numCache>
                <c:formatCode>General</c:formatCode>
                <c:ptCount val="28"/>
                <c:pt idx="0">
                  <c:v>41.8</c:v>
                </c:pt>
                <c:pt idx="1">
                  <c:v>41.8</c:v>
                </c:pt>
                <c:pt idx="2">
                  <c:v>49.8</c:v>
                </c:pt>
                <c:pt idx="3">
                  <c:v>49.8</c:v>
                </c:pt>
                <c:pt idx="4">
                  <c:v>49.2</c:v>
                </c:pt>
                <c:pt idx="5">
                  <c:v>49.2</c:v>
                </c:pt>
                <c:pt idx="6">
                  <c:v>51.5</c:v>
                </c:pt>
                <c:pt idx="7">
                  <c:v>51.5</c:v>
                </c:pt>
                <c:pt idx="8">
                  <c:v>43.3</c:v>
                </c:pt>
                <c:pt idx="9">
                  <c:v>43.3</c:v>
                </c:pt>
                <c:pt idx="10">
                  <c:v>51.8</c:v>
                </c:pt>
                <c:pt idx="11">
                  <c:v>51.8</c:v>
                </c:pt>
                <c:pt idx="12">
                  <c:v>53.6</c:v>
                </c:pt>
                <c:pt idx="13">
                  <c:v>53.6</c:v>
                </c:pt>
                <c:pt idx="14">
                  <c:v>53.6</c:v>
                </c:pt>
                <c:pt idx="15">
                  <c:v>53.6</c:v>
                </c:pt>
                <c:pt idx="16">
                  <c:v>55.6</c:v>
                </c:pt>
                <c:pt idx="17">
                  <c:v>55.6</c:v>
                </c:pt>
                <c:pt idx="18">
                  <c:v>52.9</c:v>
                </c:pt>
                <c:pt idx="19">
                  <c:v>52.9</c:v>
                </c:pt>
                <c:pt idx="20">
                  <c:v>49.6</c:v>
                </c:pt>
                <c:pt idx="21">
                  <c:v>49.6</c:v>
                </c:pt>
                <c:pt idx="22">
                  <c:v>48.4</c:v>
                </c:pt>
                <c:pt idx="23">
                  <c:v>48.4</c:v>
                </c:pt>
                <c:pt idx="24">
                  <c:v>57.8</c:v>
                </c:pt>
                <c:pt idx="25">
                  <c:v>57.8</c:v>
                </c:pt>
                <c:pt idx="26">
                  <c:v>51</c:v>
                </c:pt>
                <c:pt idx="27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95-4F2B-A233-5843B08C6D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03286911"/>
        <c:axId val="303287871"/>
      </c:barChart>
      <c:catAx>
        <c:axId val="3032869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sz="1600" b="1" dirty="0"/>
                  <a:t>Diabetic Retinopathy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03287871"/>
        <c:crosses val="autoZero"/>
        <c:auto val="1"/>
        <c:lblAlgn val="ctr"/>
        <c:lblOffset val="100"/>
        <c:noMultiLvlLbl val="0"/>
      </c:catAx>
      <c:valAx>
        <c:axId val="303287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sz="1600" b="1"/>
                  <a:t>Reads (in million)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032869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4C24E-2BEB-45E0-9F82-3765D6A7CB1C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1C0B5-8CE3-4A3F-857F-5A87C0993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2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9D43D-272B-4D12-AEDB-E202F28389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10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9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 dirty="0">
              <a:latin typeface="Arial"/>
            </a:endParaRPr>
          </a:p>
        </p:txBody>
      </p:sp>
      <p:sp>
        <p:nvSpPr>
          <p:cNvPr id="951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FE75266-DD5F-4D04-83A7-38C3754490B8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784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 count per sample after removing null values (Table)</a:t>
            </a:r>
          </a:p>
          <a:p>
            <a:r>
              <a:rPr lang="en-US" dirty="0"/>
              <a:t>Filter genes with low counts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214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59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significance cutoff used for optimizing the independent filtering (by default 0.1). If the adjusted p-value cutoff (FDR) will be a value other than 0.1, alpha should be set to that value.</a:t>
            </a:r>
          </a:p>
          <a:p>
            <a:endParaRPr lang="en-US" dirty="0"/>
          </a:p>
          <a:p>
            <a:r>
              <a:rPr lang="en-US" dirty="0"/>
              <a:t>If we want cutoff of 0.05, we can always filter based on False discovery rate (FDR)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80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significance cutoff used for optimizing the independent filtering (by default 0.1). If the adjusted p-value cutoff (FDR) will be a value other than 0.1, alpha should be set to that value.</a:t>
            </a:r>
          </a:p>
          <a:p>
            <a:endParaRPr lang="en-US" dirty="0"/>
          </a:p>
          <a:p>
            <a:r>
              <a:rPr lang="en-US" dirty="0"/>
              <a:t>If we want cutoff of 0.05, we can always filter based on False discovery rate (FDR)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707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Old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748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Spearman’s Rank Correlation Coefficient is used to discover the strength of a link between two sets of data – monotonic relationship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Old Analysis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27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Old Analysis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524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66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Normalize count data per samples for the derived DEGs.</a:t>
            </a:r>
          </a:p>
          <a:p>
            <a:r>
              <a:rPr lang="en-US" dirty="0"/>
              <a:t>Center and scale each column by Z-score</a:t>
            </a:r>
          </a:p>
          <a:p>
            <a:endParaRPr lang="en-US" dirty="0"/>
          </a:p>
          <a:p>
            <a:r>
              <a:rPr lang="en-US" dirty="0"/>
              <a:t>Restructure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08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and without the diabetic patient (potential outlier)</a:t>
            </a:r>
          </a:p>
          <a:p>
            <a:r>
              <a:rPr lang="en-US" dirty="0"/>
              <a:t>Total number of genes. Before and after filtering.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Old Analysis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53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and without the diabetic patient (potential outlier)</a:t>
            </a:r>
          </a:p>
          <a:p>
            <a:r>
              <a:rPr lang="en-US" dirty="0"/>
              <a:t>Total number of genes. Before and after filtering.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Old Analysis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95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Non-redundant clustering on gene. Arrange X-axis. </a:t>
            </a:r>
          </a:p>
          <a:p>
            <a:r>
              <a:rPr lang="en-US" dirty="0"/>
              <a:t>Create two heatmaps. One with diabetic and one without (removing the outlier)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Old Analysis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559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05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Old Analysis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537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Cluego</a:t>
            </a:r>
            <a:r>
              <a:rPr lang="en-US" dirty="0"/>
              <a:t> analysis on all the conditions (treated vs untreated) – to be performed if needed.</a:t>
            </a:r>
          </a:p>
          <a:p>
            <a:r>
              <a:rPr lang="en-US" dirty="0"/>
              <a:t>Analysis on individual paired condition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780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 Example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1487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Diabetic Enrichment list continued.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A1C0B5-8CE3-4A3F-857F-5A87C0993C5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29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715680" y="907200"/>
            <a:ext cx="10478400" cy="3628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267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"/>
          <p:cNvGrpSpPr/>
          <p:nvPr/>
        </p:nvGrpSpPr>
        <p:grpSpPr>
          <a:xfrm>
            <a:off x="844320" y="-864480"/>
            <a:ext cx="977280" cy="3156000"/>
            <a:chOff x="633240" y="-648360"/>
            <a:chExt cx="732960" cy="2367000"/>
          </a:xfrm>
        </p:grpSpPr>
        <p:sp>
          <p:nvSpPr>
            <p:cNvPr id="7" name="CustomShape 2"/>
            <p:cNvSpPr/>
            <p:nvPr/>
          </p:nvSpPr>
          <p:spPr>
            <a:xfrm>
              <a:off x="633240" y="-648360"/>
              <a:ext cx="732960" cy="2367000"/>
            </a:xfrm>
            <a:prstGeom prst="rect">
              <a:avLst/>
            </a:prstGeom>
            <a:solidFill>
              <a:srgbClr val="990000"/>
            </a:solidFill>
            <a:ln w="9360">
              <a:noFill/>
            </a:ln>
            <a:effectLst>
              <a:outerShdw dist="2304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2" name="Picture 7" descr="tab-rgb.eps"/>
            <p:cNvPicPr/>
            <p:nvPr/>
          </p:nvPicPr>
          <p:blipFill>
            <a:blip r:embed="rId3"/>
            <a:stretch/>
          </p:blipFill>
          <p:spPr>
            <a:xfrm>
              <a:off x="755640" y="978480"/>
              <a:ext cx="488880" cy="62028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670560" y="3688800"/>
            <a:ext cx="10311840" cy="14856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333" b="1" strike="noStrike" spc="-1">
                <a:solidFill>
                  <a:srgbClr val="FFFFFF"/>
                </a:solidFill>
                <a:latin typeface="Arial"/>
              </a:rPr>
              <a:t>Unnecessarily extra long title of presentation</a:t>
            </a:r>
            <a:endParaRPr lang="en-US" sz="533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707520" y="6279840"/>
            <a:ext cx="10311840" cy="369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575986" indent="-431989">
              <a:lnSpc>
                <a:spcPct val="100000"/>
              </a:lnSpc>
              <a:spcAft>
                <a:spcPts val="24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67" b="1" strike="noStrike" spc="103">
                <a:solidFill>
                  <a:srgbClr val="A6A6A6"/>
                </a:solidFill>
                <a:latin typeface="Arial"/>
              </a:rPr>
              <a:t>IUPUI</a:t>
            </a:r>
            <a:endParaRPr lang="en-US" sz="1467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707520" y="3258240"/>
            <a:ext cx="10311840" cy="3360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spcAft>
                <a:spcPts val="2400"/>
              </a:spcAft>
            </a:pPr>
            <a:r>
              <a:rPr lang="en-US" sz="2400" b="0" strike="noStrike" spc="-1">
                <a:solidFill>
                  <a:srgbClr val="A6A6A6"/>
                </a:solidFill>
                <a:latin typeface="Arial"/>
              </a:rPr>
              <a:t>SUBHEAD OR NAME OF SCHOOL, DEPARTMENT, OR UNIT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706560" y="1012320"/>
            <a:ext cx="10671840" cy="93168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000" b="1" strike="noStrike" spc="-1">
                <a:solidFill>
                  <a:srgbClr val="404041"/>
                </a:solidFill>
                <a:latin typeface="Arial"/>
              </a:rPr>
              <a:t>Click to edit master title style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CustomShape 2"/>
          <p:cNvSpPr/>
          <p:nvPr/>
        </p:nvSpPr>
        <p:spPr>
          <a:xfrm>
            <a:off x="0" y="1277280"/>
            <a:ext cx="109920" cy="51600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6445440" y="380160"/>
            <a:ext cx="4933440" cy="336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575986" indent="-431989" algn="r">
              <a:lnSpc>
                <a:spcPct val="100000"/>
              </a:lnSpc>
              <a:spcAft>
                <a:spcPts val="2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67" b="0" strike="noStrike" spc="-1">
                <a:solidFill>
                  <a:srgbClr val="A6A6A6"/>
                </a:solidFill>
                <a:latin typeface="Arial"/>
              </a:rPr>
              <a:t>SECTION TITLE OR SUBTITLE</a:t>
            </a:r>
            <a:endParaRPr lang="en-US" sz="1467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CustomShape 4"/>
          <p:cNvSpPr/>
          <p:nvPr/>
        </p:nvSpPr>
        <p:spPr>
          <a:xfrm>
            <a:off x="4741440" y="4721280"/>
            <a:ext cx="245760" cy="49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1" name="PlaceHolder 5"/>
          <p:cNvSpPr>
            <a:spLocks noGrp="1"/>
          </p:cNvSpPr>
          <p:nvPr>
            <p:ph type="body"/>
          </p:nvPr>
        </p:nvSpPr>
        <p:spPr>
          <a:xfrm>
            <a:off x="691680" y="2172480"/>
            <a:ext cx="10687200" cy="37468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429" indent="-456949">
              <a:lnSpc>
                <a:spcPct val="100000"/>
              </a:lnSpc>
              <a:spcAft>
                <a:spcPts val="2400"/>
              </a:spcAft>
              <a:buClr>
                <a:srgbClr val="808080"/>
              </a:buClr>
              <a:buFont typeface="StarSymbol"/>
              <a:buAutoNum type="arabicPeriod"/>
            </a:pPr>
            <a:r>
              <a:rPr lang="en-US" sz="2400" b="0" strike="noStrike" spc="-1">
                <a:solidFill>
                  <a:srgbClr val="404041"/>
                </a:solidFill>
                <a:latin typeface="Arial"/>
              </a:rPr>
              <a:t>Click to edit master subtitle style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2" name="Group 6"/>
          <p:cNvGrpSpPr/>
          <p:nvPr/>
        </p:nvGrpSpPr>
        <p:grpSpPr>
          <a:xfrm>
            <a:off x="-41280" y="6215520"/>
            <a:ext cx="12304320" cy="704640"/>
            <a:chOff x="-30960" y="4661640"/>
            <a:chExt cx="9228240" cy="528480"/>
          </a:xfrm>
        </p:grpSpPr>
        <p:sp>
          <p:nvSpPr>
            <p:cNvPr id="133" name="CustomShape 7"/>
            <p:cNvSpPr/>
            <p:nvPr/>
          </p:nvSpPr>
          <p:spPr>
            <a:xfrm>
              <a:off x="-30960" y="4734720"/>
              <a:ext cx="9228240" cy="455400"/>
            </a:xfrm>
            <a:prstGeom prst="rect">
              <a:avLst/>
            </a:prstGeom>
            <a:solidFill>
              <a:srgbClr val="690304"/>
            </a:solidFill>
            <a:ln w="9360">
              <a:noFill/>
            </a:ln>
            <a:effectLst>
              <a:outerShdw dist="2304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4" name="CustomShape 8"/>
            <p:cNvSpPr/>
            <p:nvPr/>
          </p:nvSpPr>
          <p:spPr>
            <a:xfrm>
              <a:off x="635400" y="4661640"/>
              <a:ext cx="387000" cy="528480"/>
            </a:xfrm>
            <a:prstGeom prst="rect">
              <a:avLst/>
            </a:prstGeom>
            <a:solidFill>
              <a:srgbClr val="990000"/>
            </a:solidFill>
            <a:ln w="9360">
              <a:noFill/>
            </a:ln>
            <a:effectLst>
              <a:outerShdw dist="23040" dir="540000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35" name="Picture 15" descr="tab-rgb.eps"/>
            <p:cNvPicPr/>
            <p:nvPr/>
          </p:nvPicPr>
          <p:blipFill>
            <a:blip r:embed="rId3"/>
            <a:stretch/>
          </p:blipFill>
          <p:spPr>
            <a:xfrm>
              <a:off x="699840" y="4726800"/>
              <a:ext cx="257760" cy="327240"/>
            </a:xfrm>
            <a:prstGeom prst="rect">
              <a:avLst/>
            </a:prstGeom>
            <a:ln>
              <a:noFill/>
            </a:ln>
          </p:spPr>
        </p:pic>
        <p:sp>
          <p:nvSpPr>
            <p:cNvPr id="136" name="CustomShape 9"/>
            <p:cNvSpPr/>
            <p:nvPr/>
          </p:nvSpPr>
          <p:spPr>
            <a:xfrm>
              <a:off x="1031040" y="4802040"/>
              <a:ext cx="3613320" cy="2732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 strike="noStrike" spc="-1">
                  <a:solidFill>
                    <a:srgbClr val="FFFFFF"/>
                  </a:solidFill>
                  <a:latin typeface="Arial"/>
                </a:rPr>
                <a:t>IUPUI</a:t>
              </a:r>
              <a:endParaRPr lang="en-US" sz="1600" b="0" strike="noStrike" spc="-1">
                <a:latin typeface="Aria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0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body"/>
          </p:nvPr>
        </p:nvSpPr>
        <p:spPr>
          <a:xfrm>
            <a:off x="715680" y="907200"/>
            <a:ext cx="10478400" cy="36283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75986" indent="-431989">
              <a:lnSpc>
                <a:spcPct val="100000"/>
              </a:lnSpc>
              <a:spcAft>
                <a:spcPts val="24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FFFFFF"/>
                </a:solidFill>
                <a:latin typeface="Arial"/>
              </a:rPr>
              <a:t>Click to edit Master text styles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CustomShape 2"/>
          <p:cNvSpPr/>
          <p:nvPr/>
        </p:nvSpPr>
        <p:spPr>
          <a:xfrm>
            <a:off x="-21120" y="907200"/>
            <a:ext cx="109920" cy="51600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48" name="Picture 5"/>
          <p:cNvPicPr/>
          <p:nvPr/>
        </p:nvPicPr>
        <p:blipFill>
          <a:blip r:embed="rId3"/>
          <a:stretch/>
        </p:blipFill>
        <p:spPr>
          <a:xfrm>
            <a:off x="847200" y="5427840"/>
            <a:ext cx="2631360" cy="955200"/>
          </a:xfrm>
          <a:prstGeom prst="rect">
            <a:avLst/>
          </a:prstGeom>
          <a:ln>
            <a:noFill/>
          </a:ln>
        </p:spPr>
      </p:pic>
      <p:sp>
        <p:nvSpPr>
          <p:cNvPr id="349" name="CustomShape 3"/>
          <p:cNvSpPr/>
          <p:nvPr/>
        </p:nvSpPr>
        <p:spPr>
          <a:xfrm>
            <a:off x="847200" y="6304320"/>
            <a:ext cx="806400" cy="55344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0" name="PlaceHolder 4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TextShape 1"/>
          <p:cNvSpPr txBox="1"/>
          <p:nvPr/>
        </p:nvSpPr>
        <p:spPr>
          <a:xfrm>
            <a:off x="707520" y="3867849"/>
            <a:ext cx="10311840" cy="14856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79000" lnSpcReduction="20000"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5333" b="1" spc="-1" dirty="0">
                <a:solidFill>
                  <a:srgbClr val="FFFFFF"/>
                </a:solidFill>
                <a:latin typeface="Arial"/>
              </a:rPr>
              <a:t>RNA-Seq profiling in peripheral blood mononuclear cells of diabetic retinopathy  patients and controls</a:t>
            </a:r>
            <a:endParaRPr lang="en-US" sz="5333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TextShape 2"/>
          <p:cNvSpPr txBox="1"/>
          <p:nvPr/>
        </p:nvSpPr>
        <p:spPr>
          <a:xfrm>
            <a:off x="707520" y="6279840"/>
            <a:ext cx="10311840" cy="3696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2400"/>
              </a:spcAft>
            </a:pPr>
            <a:r>
              <a:rPr lang="en-US" sz="1467" b="1" strike="noStrike" spc="103" dirty="0">
                <a:solidFill>
                  <a:srgbClr val="A6A6A6"/>
                </a:solidFill>
                <a:latin typeface="Arial"/>
              </a:rPr>
              <a:t>IUPUI</a:t>
            </a:r>
            <a:endParaRPr lang="en-US" sz="1467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TextShape 3"/>
          <p:cNvSpPr txBox="1"/>
          <p:nvPr/>
        </p:nvSpPr>
        <p:spPr>
          <a:xfrm>
            <a:off x="707520" y="2984272"/>
            <a:ext cx="10311840" cy="661647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2400"/>
              </a:spcAft>
            </a:pPr>
            <a:r>
              <a:rPr lang="en-US" sz="2400" b="0" strike="noStrike" spc="-1" dirty="0" err="1">
                <a:solidFill>
                  <a:srgbClr val="A6A6A6"/>
                </a:solidFill>
                <a:latin typeface="Arial"/>
              </a:rPr>
              <a:t>Luddy</a:t>
            </a:r>
            <a:r>
              <a:rPr lang="en-US" sz="2400" b="0" strike="noStrike" spc="-1" dirty="0">
                <a:solidFill>
                  <a:srgbClr val="A6A6A6"/>
                </a:solidFill>
                <a:latin typeface="Arial"/>
              </a:rPr>
              <a:t> School of Informatics, Computing, and Engineering, IUPUI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TextShape 4"/>
          <p:cNvSpPr txBox="1"/>
          <p:nvPr/>
        </p:nvSpPr>
        <p:spPr>
          <a:xfrm>
            <a:off x="11714880" y="0"/>
            <a:ext cx="5110080" cy="56976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965C0-D34C-43C2-85E7-FBAB641DFDC9}" type="slidenum">
              <a:rPr lang="en-US" sz="3200" b="0" strike="noStrike" spc="-1">
                <a:latin typeface="Times New Roman"/>
              </a:rPr>
              <a:t>1</a:t>
            </a:fld>
            <a:endParaRPr lang="en-US" sz="3200" b="0" strike="noStrike" spc="-1"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C8300-001B-7862-21E9-04B73E17EBCF}"/>
              </a:ext>
            </a:extLst>
          </p:cNvPr>
          <p:cNvSpPr txBox="1"/>
          <p:nvPr/>
        </p:nvSpPr>
        <p:spPr>
          <a:xfrm>
            <a:off x="9919533" y="5956674"/>
            <a:ext cx="1795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Neel Sangani</a:t>
            </a:r>
            <a:br>
              <a:rPr 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Janga Lab</a:t>
            </a:r>
          </a:p>
        </p:txBody>
      </p:sp>
    </p:spTree>
    <p:extLst>
      <p:ext uri="{BB962C8B-B14F-4D97-AF65-F5344CB8AC3E}">
        <p14:creationId xmlns:p14="http://schemas.microsoft.com/office/powerpoint/2010/main" val="110543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CA8D80E2-F77E-4E2B-BF2D-F3EA69C55F1D}"/>
              </a:ext>
            </a:extLst>
          </p:cNvPr>
          <p:cNvSpPr txBox="1"/>
          <p:nvPr/>
        </p:nvSpPr>
        <p:spPr>
          <a:xfrm>
            <a:off x="706559" y="1012320"/>
            <a:ext cx="11159375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404041"/>
                </a:solidFill>
                <a:latin typeface="Arial"/>
              </a:rPr>
              <a:t>Outline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35495A-B5C5-9E68-3CBE-2CB3FA14E81B}"/>
              </a:ext>
            </a:extLst>
          </p:cNvPr>
          <p:cNvSpPr txBox="1"/>
          <p:nvPr/>
        </p:nvSpPr>
        <p:spPr>
          <a:xfrm>
            <a:off x="1097280" y="2243328"/>
            <a:ext cx="954633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Control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FeatureCounts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Conditions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DESeq2 results </a:t>
            </a:r>
          </a:p>
          <a:p>
            <a:pPr marL="342900" indent="-342900">
              <a:buFont typeface="+mj-lt"/>
              <a:buAutoNum type="arabi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996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TextShape 1"/>
          <p:cNvSpPr txBox="1"/>
          <p:nvPr/>
        </p:nvSpPr>
        <p:spPr>
          <a:xfrm>
            <a:off x="706559" y="1012320"/>
            <a:ext cx="11159375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404041"/>
                </a:solidFill>
                <a:latin typeface="Arial"/>
              </a:rPr>
              <a:t>Dataset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TextShape 2"/>
          <p:cNvSpPr txBox="1"/>
          <p:nvPr/>
        </p:nvSpPr>
        <p:spPr>
          <a:xfrm>
            <a:off x="6445440" y="380160"/>
            <a:ext cx="4933440" cy="336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Aft>
                <a:spcPts val="2400"/>
              </a:spcAft>
            </a:pPr>
            <a:r>
              <a:rPr lang="en-US" sz="1467" b="0" strike="noStrike" spc="-1">
                <a:solidFill>
                  <a:srgbClr val="A6A6A6"/>
                </a:solidFill>
                <a:latin typeface="Arial"/>
              </a:rPr>
              <a:t>Introduction</a:t>
            </a:r>
            <a:endParaRPr lang="en-US" sz="1467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TextShape 4"/>
          <p:cNvSpPr txBox="1"/>
          <p:nvPr/>
        </p:nvSpPr>
        <p:spPr>
          <a:xfrm>
            <a:off x="11704320" y="0"/>
            <a:ext cx="5110080" cy="56976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01B585-002D-4381-8DCF-6BBB0763F000}" type="slidenum">
              <a:rPr lang="en-US" sz="3200" b="0" strike="noStrike" spc="-1">
                <a:latin typeface="Times New Roman"/>
              </a:rPr>
              <a:t>3</a:t>
            </a:fld>
            <a:endParaRPr lang="en-US" sz="3200" b="0" strike="noStrike" spc="-1">
              <a:latin typeface="Times New Roman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F11680B-EA56-A2A3-2B1D-91474145A0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664406"/>
              </p:ext>
            </p:extLst>
          </p:nvPr>
        </p:nvGraphicFramePr>
        <p:xfrm>
          <a:off x="2317035" y="2401192"/>
          <a:ext cx="7557930" cy="205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061637" imgH="1104813" progId="Excel.Sheet.12">
                  <p:embed/>
                </p:oleObj>
              </mc:Choice>
              <mc:Fallback>
                <p:oleObj name="Worksheet" r:id="rId3" imgW="4061637" imgH="110481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17035" y="2401192"/>
                        <a:ext cx="7557930" cy="2055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769B17B-5CF3-638F-C657-1E9DC54DD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755700"/>
              </p:ext>
            </p:extLst>
          </p:nvPr>
        </p:nvGraphicFramePr>
        <p:xfrm>
          <a:off x="1353663" y="5041900"/>
          <a:ext cx="9484673" cy="56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6210265" imgH="373530" progId="Excel.Sheet.12">
                  <p:embed/>
                </p:oleObj>
              </mc:Choice>
              <mc:Fallback>
                <p:oleObj name="Worksheet" r:id="rId5" imgW="6210265" imgH="37353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53663" y="5041900"/>
                        <a:ext cx="9484673" cy="569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170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561598B3-B51F-87C2-E9D4-BED8737A9F40}"/>
              </a:ext>
            </a:extLst>
          </p:cNvPr>
          <p:cNvSpPr txBox="1"/>
          <p:nvPr/>
        </p:nvSpPr>
        <p:spPr>
          <a:xfrm>
            <a:off x="706559" y="1012320"/>
            <a:ext cx="11159375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pc="-1" dirty="0">
                <a:solidFill>
                  <a:srgbClr val="404041"/>
                </a:solidFill>
                <a:latin typeface="Arial"/>
              </a:rPr>
              <a:t>Quality Control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6085014-1F49-4C02-3AA2-8CBC1D0CBF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6212333"/>
              </p:ext>
            </p:extLst>
          </p:nvPr>
        </p:nvGraphicFramePr>
        <p:xfrm>
          <a:off x="2026920" y="1944000"/>
          <a:ext cx="7065264" cy="3941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5ECE3AC-1B85-9C1A-DF0B-185CE71B8662}"/>
              </a:ext>
            </a:extLst>
          </p:cNvPr>
          <p:cNvSpPr txBox="1"/>
          <p:nvPr/>
        </p:nvSpPr>
        <p:spPr>
          <a:xfrm>
            <a:off x="9464687" y="2848832"/>
            <a:ext cx="240124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Control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Mild NPDR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Diabetic/DM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Severe NDPR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PDR</a:t>
            </a:r>
          </a:p>
        </p:txBody>
      </p:sp>
    </p:spTree>
    <p:extLst>
      <p:ext uri="{BB962C8B-B14F-4D97-AF65-F5344CB8AC3E}">
        <p14:creationId xmlns:p14="http://schemas.microsoft.com/office/powerpoint/2010/main" val="279503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Shape 1">
            <a:extLst>
              <a:ext uri="{FF2B5EF4-FFF2-40B4-BE49-F238E27FC236}">
                <a16:creationId xmlns:a16="http://schemas.microsoft.com/office/drawing/2014/main" id="{ABAC5D3D-E38D-DBC1-5D2F-BECC82459B56}"/>
              </a:ext>
            </a:extLst>
          </p:cNvPr>
          <p:cNvSpPr txBox="1"/>
          <p:nvPr/>
        </p:nvSpPr>
        <p:spPr>
          <a:xfrm>
            <a:off x="706559" y="1012320"/>
            <a:ext cx="11159375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pc="-1" dirty="0">
                <a:solidFill>
                  <a:srgbClr val="404041"/>
                </a:solidFill>
                <a:latin typeface="Arial"/>
              </a:rPr>
              <a:t>Alignment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68B1E7-FAA3-D255-B2D5-98DCB27D643C}"/>
              </a:ext>
            </a:extLst>
          </p:cNvPr>
          <p:cNvSpPr txBox="1"/>
          <p:nvPr/>
        </p:nvSpPr>
        <p:spPr>
          <a:xfrm>
            <a:off x="9464687" y="2848832"/>
            <a:ext cx="240124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Control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Mild NPDR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Diabetic/DM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Severe NDPR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PDR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22BCBB-D62B-F64E-5E46-F43986ADB0A5}"/>
              </a:ext>
            </a:extLst>
          </p:cNvPr>
          <p:cNvSpPr txBox="1"/>
          <p:nvPr/>
        </p:nvSpPr>
        <p:spPr>
          <a:xfrm>
            <a:off x="880946" y="2553629"/>
            <a:ext cx="6601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Above 90%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92% and high 95%</a:t>
            </a:r>
          </a:p>
        </p:txBody>
      </p:sp>
    </p:spTree>
    <p:extLst>
      <p:ext uri="{BB962C8B-B14F-4D97-AF65-F5344CB8AC3E}">
        <p14:creationId xmlns:p14="http://schemas.microsoft.com/office/powerpoint/2010/main" val="137107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Shape 1">
            <a:extLst>
              <a:ext uri="{FF2B5EF4-FFF2-40B4-BE49-F238E27FC236}">
                <a16:creationId xmlns:a16="http://schemas.microsoft.com/office/drawing/2014/main" id="{ABAC5D3D-E38D-DBC1-5D2F-BECC82459B56}"/>
              </a:ext>
            </a:extLst>
          </p:cNvPr>
          <p:cNvSpPr txBox="1"/>
          <p:nvPr/>
        </p:nvSpPr>
        <p:spPr>
          <a:xfrm>
            <a:off x="706559" y="1012320"/>
            <a:ext cx="11159375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pc="-1" dirty="0" err="1">
                <a:solidFill>
                  <a:srgbClr val="404041"/>
                </a:solidFill>
                <a:latin typeface="Arial"/>
              </a:rPr>
              <a:t>featureCounts</a:t>
            </a:r>
            <a:r>
              <a:rPr lang="en-US" sz="4000" b="1" spc="-1" dirty="0">
                <a:solidFill>
                  <a:srgbClr val="404041"/>
                </a:solidFill>
                <a:latin typeface="Arial"/>
              </a:rPr>
              <a:t> (gene-level quantification)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68B1E7-FAA3-D255-B2D5-98DCB27D643C}"/>
              </a:ext>
            </a:extLst>
          </p:cNvPr>
          <p:cNvSpPr txBox="1"/>
          <p:nvPr/>
        </p:nvSpPr>
        <p:spPr>
          <a:xfrm>
            <a:off x="9464687" y="2848832"/>
            <a:ext cx="240124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Control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Mild NPDR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Diabetic/DM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Severe NDPR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PDR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9F7EB6-86C8-C0EF-97B4-2516DDBAB078}"/>
              </a:ext>
            </a:extLst>
          </p:cNvPr>
          <p:cNvSpPr txBox="1"/>
          <p:nvPr/>
        </p:nvSpPr>
        <p:spPr>
          <a:xfrm>
            <a:off x="706559" y="2848832"/>
            <a:ext cx="8058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 60,675 x 14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Two quality control steps:</a:t>
            </a:r>
          </a:p>
          <a:p>
            <a:pPr marL="342900" indent="-342900">
              <a:buAutoNum type="arabicPeriod"/>
            </a:pPr>
            <a:r>
              <a:rPr lang="en-US" dirty="0"/>
              <a:t>Drop all rows with zero reads in any column: 17,476 x 14</a:t>
            </a:r>
          </a:p>
          <a:p>
            <a:pPr marL="342900" indent="-342900">
              <a:buAutoNum type="arabicPeriod"/>
            </a:pPr>
            <a:r>
              <a:rPr lang="en-US" dirty="0"/>
              <a:t>Drop rows with reads less than 5 any column: 15,431 x 14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77363-4AFA-DE3F-C2F4-C8EC26023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8224"/>
            <a:ext cx="12192000" cy="141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65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5665C767-505A-AA1D-8981-136722E75A75}"/>
              </a:ext>
            </a:extLst>
          </p:cNvPr>
          <p:cNvSpPr txBox="1"/>
          <p:nvPr/>
        </p:nvSpPr>
        <p:spPr>
          <a:xfrm>
            <a:off x="706559" y="1012320"/>
            <a:ext cx="11159375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pc="-1" dirty="0">
                <a:solidFill>
                  <a:srgbClr val="404041"/>
                </a:solidFill>
                <a:latin typeface="Arial"/>
              </a:rPr>
              <a:t>Experiment Design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CDCDFD-ECC5-E937-44FB-366004D56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59" y="2228691"/>
            <a:ext cx="4853303" cy="361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628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A96320-CC19-B14E-7E50-34E331870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53" y="2663357"/>
            <a:ext cx="10390865" cy="1531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B1B2F2-9EE8-7303-75E7-B0602DC45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53" y="4710790"/>
            <a:ext cx="7282269" cy="11659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FE96B7-BD1B-1EA5-70A4-357EB7F66F0E}"/>
              </a:ext>
            </a:extLst>
          </p:cNvPr>
          <p:cNvSpPr txBox="1"/>
          <p:nvPr/>
        </p:nvSpPr>
        <p:spPr>
          <a:xfrm>
            <a:off x="663044" y="2191815"/>
            <a:ext cx="6652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Significance cutoff = 0.1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D306B8-7718-621A-1CC5-20157E97F87B}"/>
              </a:ext>
            </a:extLst>
          </p:cNvPr>
          <p:cNvSpPr txBox="1"/>
          <p:nvPr/>
        </p:nvSpPr>
        <p:spPr>
          <a:xfrm>
            <a:off x="663044" y="4365474"/>
            <a:ext cx="350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Output:</a:t>
            </a:r>
          </a:p>
        </p:txBody>
      </p:sp>
      <p:sp>
        <p:nvSpPr>
          <p:cNvPr id="9" name="TextShape 1">
            <a:extLst>
              <a:ext uri="{FF2B5EF4-FFF2-40B4-BE49-F238E27FC236}">
                <a16:creationId xmlns:a16="http://schemas.microsoft.com/office/drawing/2014/main" id="{0485C780-7FA1-9CE8-E5FC-61441903C4B1}"/>
              </a:ext>
            </a:extLst>
          </p:cNvPr>
          <p:cNvSpPr txBox="1"/>
          <p:nvPr/>
        </p:nvSpPr>
        <p:spPr>
          <a:xfrm>
            <a:off x="706559" y="1012320"/>
            <a:ext cx="11159375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404041"/>
                </a:solidFill>
                <a:latin typeface="Arial"/>
              </a:rPr>
              <a:t>DESeq2 Analysis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7104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FE96B7-BD1B-1EA5-70A4-357EB7F66F0E}"/>
              </a:ext>
            </a:extLst>
          </p:cNvPr>
          <p:cNvSpPr txBox="1"/>
          <p:nvPr/>
        </p:nvSpPr>
        <p:spPr>
          <a:xfrm>
            <a:off x="663044" y="2191815"/>
            <a:ext cx="6652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err="1"/>
              <a:t>Padj</a:t>
            </a:r>
            <a:r>
              <a:rPr lang="en-US" u="sng" dirty="0"/>
              <a:t> cutoff = 0.1 (FDR)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D306B8-7718-621A-1CC5-20157E97F87B}"/>
              </a:ext>
            </a:extLst>
          </p:cNvPr>
          <p:cNvSpPr txBox="1"/>
          <p:nvPr/>
        </p:nvSpPr>
        <p:spPr>
          <a:xfrm>
            <a:off x="663044" y="4365474"/>
            <a:ext cx="350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Output: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D22FF1-6DCB-F210-2522-CF839F82B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53" y="2561147"/>
            <a:ext cx="4886391" cy="15002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95349F-F961-4793-0B14-BB9B2A3CA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53" y="4710790"/>
            <a:ext cx="7282269" cy="1165903"/>
          </a:xfrm>
          <a:prstGeom prst="rect">
            <a:avLst/>
          </a:prstGeom>
        </p:spPr>
      </p:pic>
      <p:sp>
        <p:nvSpPr>
          <p:cNvPr id="9" name="TextShape 1">
            <a:extLst>
              <a:ext uri="{FF2B5EF4-FFF2-40B4-BE49-F238E27FC236}">
                <a16:creationId xmlns:a16="http://schemas.microsoft.com/office/drawing/2014/main" id="{2D7C787A-7F5B-50C7-FDDC-E2150D835E0B}"/>
              </a:ext>
            </a:extLst>
          </p:cNvPr>
          <p:cNvSpPr txBox="1"/>
          <p:nvPr/>
        </p:nvSpPr>
        <p:spPr>
          <a:xfrm>
            <a:off x="706559" y="1012320"/>
            <a:ext cx="11159375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404041"/>
                </a:solidFill>
                <a:latin typeface="Arial"/>
              </a:rPr>
              <a:t>DESeq2 Analysis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7571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C3A2A9D6-834F-E187-5488-0667E6680395}"/>
              </a:ext>
            </a:extLst>
          </p:cNvPr>
          <p:cNvSpPr txBox="1"/>
          <p:nvPr/>
        </p:nvSpPr>
        <p:spPr>
          <a:xfrm>
            <a:off x="706559" y="1012320"/>
            <a:ext cx="11159375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pc="-1" dirty="0">
                <a:solidFill>
                  <a:srgbClr val="404041"/>
                </a:solidFill>
                <a:latin typeface="Arial"/>
              </a:rPr>
              <a:t>Distribution of gene ratios (size factor) 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3" descr="A graph of a function&#10;&#10;Description automatically generated">
            <a:extLst>
              <a:ext uri="{FF2B5EF4-FFF2-40B4-BE49-F238E27FC236}">
                <a16:creationId xmlns:a16="http://schemas.microsoft.com/office/drawing/2014/main" id="{A1709347-2905-3454-E550-6D0BEF8F2C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416" y="1944000"/>
            <a:ext cx="6573167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6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C3A2A9D6-834F-E187-5488-0667E6680395}"/>
              </a:ext>
            </a:extLst>
          </p:cNvPr>
          <p:cNvSpPr txBox="1"/>
          <p:nvPr/>
        </p:nvSpPr>
        <p:spPr>
          <a:xfrm>
            <a:off x="706559" y="1012320"/>
            <a:ext cx="11159375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pc="-1" dirty="0" err="1">
                <a:solidFill>
                  <a:srgbClr val="404041"/>
                </a:solidFill>
                <a:latin typeface="Arial"/>
              </a:rPr>
              <a:t>Dendogram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B5F2B88-2F04-8C8D-D212-53A785856B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30836"/>
              </p:ext>
            </p:extLst>
          </p:nvPr>
        </p:nvGraphicFramePr>
        <p:xfrm>
          <a:off x="659612" y="2396043"/>
          <a:ext cx="5436388" cy="336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4487790" imgH="2781008" progId="Acrobat.Document.DC">
                  <p:embed/>
                </p:oleObj>
              </mc:Choice>
              <mc:Fallback>
                <p:oleObj name="Acrobat Document" r:id="rId3" imgW="4487790" imgH="2781008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9612" y="2396043"/>
                        <a:ext cx="5436388" cy="3369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1CB63DA-D078-7195-F931-50F419C670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734847"/>
              </p:ext>
            </p:extLst>
          </p:nvPr>
        </p:nvGraphicFramePr>
        <p:xfrm>
          <a:off x="6368591" y="2396043"/>
          <a:ext cx="5566281" cy="344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5" imgW="4487790" imgH="2781008" progId="Acrobat.Document.DC">
                  <p:embed/>
                </p:oleObj>
              </mc:Choice>
              <mc:Fallback>
                <p:oleObj name="Acrobat Document" r:id="rId5" imgW="4487790" imgH="2781008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68591" y="2396043"/>
                        <a:ext cx="5566281" cy="3449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7791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C3A2A9D6-834F-E187-5488-0667E6680395}"/>
              </a:ext>
            </a:extLst>
          </p:cNvPr>
          <p:cNvSpPr txBox="1"/>
          <p:nvPr/>
        </p:nvSpPr>
        <p:spPr>
          <a:xfrm>
            <a:off x="706559" y="1012320"/>
            <a:ext cx="11485441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pc="-1" dirty="0">
                <a:solidFill>
                  <a:srgbClr val="404041"/>
                </a:solidFill>
                <a:latin typeface="Arial"/>
              </a:rPr>
              <a:t>Dendrogram (diabetic replicate dropped)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3" descr="A diagram of a number of patients&#10;&#10;Description automatically generated with medium confidence">
            <a:extLst>
              <a:ext uri="{FF2B5EF4-FFF2-40B4-BE49-F238E27FC236}">
                <a16:creationId xmlns:a16="http://schemas.microsoft.com/office/drawing/2014/main" id="{01728D14-3605-B234-2241-E4D95996D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100" y="2080818"/>
            <a:ext cx="6345799" cy="385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76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C3A2A9D6-834F-E187-5488-0667E6680395}"/>
              </a:ext>
            </a:extLst>
          </p:cNvPr>
          <p:cNvSpPr txBox="1"/>
          <p:nvPr/>
        </p:nvSpPr>
        <p:spPr>
          <a:xfrm>
            <a:off x="706559" y="1012320"/>
            <a:ext cx="11159375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0" strike="noStrike" spc="-1" dirty="0">
                <a:solidFill>
                  <a:srgbClr val="000000"/>
                </a:solidFill>
                <a:latin typeface="Arial"/>
              </a:rPr>
              <a:t>Gene Symbol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CF6FFC-D328-4DD3-AB55-F470E4B56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58" y="2400636"/>
            <a:ext cx="8459741" cy="10283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9BB6CF-85AB-99F4-4055-874A20F8E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558" y="3606947"/>
            <a:ext cx="7962392" cy="223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922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C3A2A9D6-834F-E187-5488-0667E6680395}"/>
              </a:ext>
            </a:extLst>
          </p:cNvPr>
          <p:cNvSpPr txBox="1"/>
          <p:nvPr/>
        </p:nvSpPr>
        <p:spPr>
          <a:xfrm>
            <a:off x="706559" y="1012320"/>
            <a:ext cx="11159375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0" strike="noStrike" spc="-1" dirty="0">
                <a:solidFill>
                  <a:srgbClr val="000000"/>
                </a:solidFill>
                <a:latin typeface="Arial"/>
              </a:rPr>
              <a:t>Heatmap</a:t>
            </a:r>
          </a:p>
        </p:txBody>
      </p:sp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34E60AEB-8FA4-3175-11BE-5828920AFC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571" y="1012320"/>
            <a:ext cx="6865870" cy="499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16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C3A2A9D6-834F-E187-5488-0667E6680395}"/>
              </a:ext>
            </a:extLst>
          </p:cNvPr>
          <p:cNvSpPr txBox="1"/>
          <p:nvPr/>
        </p:nvSpPr>
        <p:spPr>
          <a:xfrm>
            <a:off x="706559" y="1012320"/>
            <a:ext cx="11159375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pc="-1" dirty="0">
                <a:solidFill>
                  <a:srgbClr val="404041"/>
                </a:solidFill>
                <a:latin typeface="Arial"/>
              </a:rPr>
              <a:t>DESeq2 Results 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D968D9-807C-9F9D-FA9A-E83C4BA37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24" y="2257792"/>
            <a:ext cx="5932005" cy="28730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D6648A-2E22-7F73-C60A-37BB41C66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012" y="2257791"/>
            <a:ext cx="5685082" cy="126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72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C3A2A9D6-834F-E187-5488-0667E6680395}"/>
              </a:ext>
            </a:extLst>
          </p:cNvPr>
          <p:cNvSpPr txBox="1"/>
          <p:nvPr/>
        </p:nvSpPr>
        <p:spPr>
          <a:xfrm>
            <a:off x="706559" y="1012320"/>
            <a:ext cx="11159375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pc="-1" dirty="0">
                <a:solidFill>
                  <a:srgbClr val="404041"/>
                </a:solidFill>
                <a:latin typeface="Arial"/>
              </a:rPr>
              <a:t>DESeq2 Results 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D6648A-2E22-7F73-C60A-37BB41C66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012" y="2257791"/>
            <a:ext cx="5685082" cy="12691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B2787B-2B71-7662-DE18-159AB7CDA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02" y="2263728"/>
            <a:ext cx="4521054" cy="265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119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C3A2A9D6-834F-E187-5488-0667E6680395}"/>
              </a:ext>
            </a:extLst>
          </p:cNvPr>
          <p:cNvSpPr txBox="1"/>
          <p:nvPr/>
        </p:nvSpPr>
        <p:spPr>
          <a:xfrm>
            <a:off x="706559" y="1012320"/>
            <a:ext cx="11159375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pc="-1" dirty="0">
                <a:solidFill>
                  <a:srgbClr val="404041"/>
                </a:solidFill>
                <a:latin typeface="Arial"/>
              </a:rPr>
              <a:t>Comparison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9AC5A1-7340-696C-A7DA-ED5C725309F4}"/>
              </a:ext>
            </a:extLst>
          </p:cNvPr>
          <p:cNvSpPr txBox="1"/>
          <p:nvPr/>
        </p:nvSpPr>
        <p:spPr>
          <a:xfrm>
            <a:off x="597159" y="2146041"/>
            <a:ext cx="54304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FDR &lt; 0.01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Padj</a:t>
            </a:r>
            <a:r>
              <a:rPr lang="en-US" dirty="0"/>
              <a:t> &lt; 0.05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Abs(Log FC) &gt;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baseMean</a:t>
            </a:r>
            <a:r>
              <a:rPr lang="en-US" dirty="0"/>
              <a:t> &gt; 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27 DEGs </a:t>
            </a:r>
          </a:p>
        </p:txBody>
      </p:sp>
      <p:pic>
        <p:nvPicPr>
          <p:cNvPr id="11" name="Picture 10" descr="A screenshot of a graph&#10;&#10;Description automatically generated">
            <a:extLst>
              <a:ext uri="{FF2B5EF4-FFF2-40B4-BE49-F238E27FC236}">
                <a16:creationId xmlns:a16="http://schemas.microsoft.com/office/drawing/2014/main" id="{F83002F4-FA74-4822-71C2-3A163E6A0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528" y="1156996"/>
            <a:ext cx="6981913" cy="498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00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266DA8C1-0DCA-A39F-D833-6D66A145B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91" y="2219093"/>
            <a:ext cx="4886115" cy="3557240"/>
          </a:xfrm>
          <a:prstGeom prst="rect">
            <a:avLst/>
          </a:prstGeom>
        </p:spPr>
      </p:pic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38633FB6-D85E-12B0-3715-64089786C3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038" y="1906857"/>
            <a:ext cx="6016860" cy="3735659"/>
          </a:xfrm>
          <a:prstGeom prst="rect">
            <a:avLst/>
          </a:prstGeom>
        </p:spPr>
      </p:pic>
      <p:sp>
        <p:nvSpPr>
          <p:cNvPr id="7" name="TextShape 1">
            <a:extLst>
              <a:ext uri="{FF2B5EF4-FFF2-40B4-BE49-F238E27FC236}">
                <a16:creationId xmlns:a16="http://schemas.microsoft.com/office/drawing/2014/main" id="{791F977C-4F27-DE91-B837-C13B7E747761}"/>
              </a:ext>
            </a:extLst>
          </p:cNvPr>
          <p:cNvSpPr txBox="1"/>
          <p:nvPr/>
        </p:nvSpPr>
        <p:spPr>
          <a:xfrm>
            <a:off x="706559" y="1012320"/>
            <a:ext cx="11159375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pc="-1" dirty="0">
                <a:solidFill>
                  <a:srgbClr val="404041"/>
                </a:solidFill>
                <a:latin typeface="Arial"/>
              </a:rPr>
              <a:t>Heatmap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7315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C3A2A9D6-834F-E187-5488-0667E6680395}"/>
              </a:ext>
            </a:extLst>
          </p:cNvPr>
          <p:cNvSpPr txBox="1"/>
          <p:nvPr/>
        </p:nvSpPr>
        <p:spPr>
          <a:xfrm>
            <a:off x="706559" y="1012320"/>
            <a:ext cx="11159375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pc="-1" dirty="0">
                <a:solidFill>
                  <a:srgbClr val="404041"/>
                </a:solidFill>
                <a:latin typeface="Arial"/>
              </a:rPr>
              <a:t>Volcano Plot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4" descr="A graph with green dots and numbers&#10;&#10;Description automatically generated">
            <a:extLst>
              <a:ext uri="{FF2B5EF4-FFF2-40B4-BE49-F238E27FC236}">
                <a16:creationId xmlns:a16="http://schemas.microsoft.com/office/drawing/2014/main" id="{CAE97228-0E3D-4624-87A1-539D29931E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816" y="751213"/>
            <a:ext cx="7504625" cy="53555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5CE8B4-A5A0-3C7A-9CE5-F8FE397648F5}"/>
              </a:ext>
            </a:extLst>
          </p:cNvPr>
          <p:cNvSpPr txBox="1"/>
          <p:nvPr/>
        </p:nvSpPr>
        <p:spPr>
          <a:xfrm>
            <a:off x="597159" y="2444620"/>
            <a:ext cx="30977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Downregulated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HK3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Upregulated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TMEM176B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HLA-DQB1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RAB3B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2180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C3A2A9D6-834F-E187-5488-0667E6680395}"/>
              </a:ext>
            </a:extLst>
          </p:cNvPr>
          <p:cNvSpPr txBox="1"/>
          <p:nvPr/>
        </p:nvSpPr>
        <p:spPr>
          <a:xfrm>
            <a:off x="345689" y="1012320"/>
            <a:ext cx="11520246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pc="-1" dirty="0">
                <a:solidFill>
                  <a:srgbClr val="404041"/>
                </a:solidFill>
                <a:latin typeface="Arial"/>
              </a:rPr>
              <a:t>Gene Ontology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D9C81-504D-5E93-5111-9C9DF89418C5}"/>
              </a:ext>
            </a:extLst>
          </p:cNvPr>
          <p:cNvSpPr txBox="1"/>
          <p:nvPr/>
        </p:nvSpPr>
        <p:spPr>
          <a:xfrm>
            <a:off x="706559" y="2425959"/>
            <a:ext cx="399607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Clusterprofiler</a:t>
            </a:r>
            <a:r>
              <a:rPr lang="en-US" dirty="0"/>
              <a:t> package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 List:</a:t>
            </a:r>
          </a:p>
          <a:p>
            <a:r>
              <a:rPr lang="en-US" dirty="0"/>
              <a:t>H1-2</a:t>
            </a:r>
          </a:p>
          <a:p>
            <a:r>
              <a:rPr lang="en-US" dirty="0"/>
              <a:t>HLA-B</a:t>
            </a:r>
          </a:p>
          <a:p>
            <a:r>
              <a:rPr lang="en-US" dirty="0"/>
              <a:t>RFXAP</a:t>
            </a:r>
          </a:p>
          <a:p>
            <a:r>
              <a:rPr lang="en-US" dirty="0"/>
              <a:t>TPSD1</a:t>
            </a:r>
          </a:p>
          <a:p>
            <a:r>
              <a:rPr lang="en-US" dirty="0"/>
              <a:t>RPL13P12</a:t>
            </a:r>
          </a:p>
          <a:p>
            <a:r>
              <a:rPr lang="en-US" dirty="0"/>
              <a:t>LRP3</a:t>
            </a:r>
          </a:p>
          <a:p>
            <a:r>
              <a:rPr lang="en-US" dirty="0"/>
              <a:t>A1BG-AS1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 descr="A pink and white bar graph&#10;&#10;Description automatically generated">
            <a:extLst>
              <a:ext uri="{FF2B5EF4-FFF2-40B4-BE49-F238E27FC236}">
                <a16:creationId xmlns:a16="http://schemas.microsoft.com/office/drawing/2014/main" id="{ED7C9085-B89B-096F-F015-F9CD765E7B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344" y="501806"/>
            <a:ext cx="7811656" cy="568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874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7E33458A-EB02-481D-CC21-5C29F70413FA}"/>
              </a:ext>
            </a:extLst>
          </p:cNvPr>
          <p:cNvSpPr txBox="1"/>
          <p:nvPr/>
        </p:nvSpPr>
        <p:spPr>
          <a:xfrm>
            <a:off x="345689" y="1012320"/>
            <a:ext cx="11520246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pc="-1" dirty="0" err="1">
                <a:solidFill>
                  <a:srgbClr val="404041"/>
                </a:solidFill>
                <a:latin typeface="Arial"/>
              </a:rPr>
              <a:t>Cluego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3" descr="A network of colorful dots and lines&#10;&#10;Description automatically generated">
            <a:extLst>
              <a:ext uri="{FF2B5EF4-FFF2-40B4-BE49-F238E27FC236}">
                <a16:creationId xmlns:a16="http://schemas.microsoft.com/office/drawing/2014/main" id="{95FDC307-4220-2C49-6BD4-4B54B63FB2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26" r="22293"/>
          <a:stretch/>
        </p:blipFill>
        <p:spPr>
          <a:xfrm>
            <a:off x="2866197" y="0"/>
            <a:ext cx="9325803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0A76C8-8454-8BC3-A981-CAD1A79E7DF3}"/>
              </a:ext>
            </a:extLst>
          </p:cNvPr>
          <p:cNvSpPr txBox="1"/>
          <p:nvPr/>
        </p:nvSpPr>
        <p:spPr>
          <a:xfrm>
            <a:off x="345689" y="2966224"/>
            <a:ext cx="1639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spc="-1" dirty="0">
                <a:solidFill>
                  <a:srgbClr val="404041"/>
                </a:solidFill>
                <a:latin typeface="Arial"/>
              </a:rPr>
              <a:t>Diabetic</a:t>
            </a:r>
            <a:endParaRPr lang="en-US" sz="180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961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7E33458A-EB02-481D-CC21-5C29F70413FA}"/>
              </a:ext>
            </a:extLst>
          </p:cNvPr>
          <p:cNvSpPr txBox="1"/>
          <p:nvPr/>
        </p:nvSpPr>
        <p:spPr>
          <a:xfrm>
            <a:off x="345689" y="1012320"/>
            <a:ext cx="11520246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pc="-1" dirty="0" err="1">
                <a:solidFill>
                  <a:srgbClr val="404041"/>
                </a:solidFill>
                <a:latin typeface="Arial"/>
              </a:rPr>
              <a:t>Cluego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A76C8-8454-8BC3-A981-CAD1A79E7DF3}"/>
              </a:ext>
            </a:extLst>
          </p:cNvPr>
          <p:cNvSpPr txBox="1"/>
          <p:nvPr/>
        </p:nvSpPr>
        <p:spPr>
          <a:xfrm>
            <a:off x="345689" y="2966224"/>
            <a:ext cx="1639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spc="-1" dirty="0">
                <a:solidFill>
                  <a:srgbClr val="404041"/>
                </a:solidFill>
                <a:latin typeface="Arial"/>
              </a:rPr>
              <a:t>Diabetic</a:t>
            </a:r>
            <a:endParaRPr lang="en-US" sz="180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Picture 5" descr="A screen shot of a chart&#10;&#10;Description automatically generated">
            <a:extLst>
              <a:ext uri="{FF2B5EF4-FFF2-40B4-BE49-F238E27FC236}">
                <a16:creationId xmlns:a16="http://schemas.microsoft.com/office/drawing/2014/main" id="{F0D2688B-487D-85B0-86A9-E6C9C70661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748"/>
          <a:stretch/>
        </p:blipFill>
        <p:spPr>
          <a:xfrm>
            <a:off x="3007801" y="0"/>
            <a:ext cx="9184199" cy="686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96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7E33458A-EB02-481D-CC21-5C29F70413FA}"/>
              </a:ext>
            </a:extLst>
          </p:cNvPr>
          <p:cNvSpPr txBox="1"/>
          <p:nvPr/>
        </p:nvSpPr>
        <p:spPr>
          <a:xfrm>
            <a:off x="345689" y="1012320"/>
            <a:ext cx="11520246" cy="931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000" b="1" spc="-1" dirty="0" err="1">
                <a:solidFill>
                  <a:srgbClr val="404041"/>
                </a:solidFill>
                <a:latin typeface="Arial"/>
              </a:rPr>
              <a:t>Cluego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A76C8-8454-8BC3-A981-CAD1A79E7DF3}"/>
              </a:ext>
            </a:extLst>
          </p:cNvPr>
          <p:cNvSpPr txBox="1"/>
          <p:nvPr/>
        </p:nvSpPr>
        <p:spPr>
          <a:xfrm>
            <a:off x="345689" y="2966224"/>
            <a:ext cx="1639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spc="-1" dirty="0">
                <a:solidFill>
                  <a:srgbClr val="404041"/>
                </a:solidFill>
                <a:latin typeface="Arial"/>
              </a:rPr>
              <a:t>Diabetic</a:t>
            </a:r>
            <a:endParaRPr lang="en-US" sz="180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Picture 5" descr="A screen shot of a chart&#10;&#10;Description automatically generated">
            <a:extLst>
              <a:ext uri="{FF2B5EF4-FFF2-40B4-BE49-F238E27FC236}">
                <a16:creationId xmlns:a16="http://schemas.microsoft.com/office/drawing/2014/main" id="{F0D2688B-487D-85B0-86A9-E6C9C70661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52"/>
          <a:stretch/>
        </p:blipFill>
        <p:spPr>
          <a:xfrm>
            <a:off x="5263377" y="67237"/>
            <a:ext cx="6969512" cy="683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88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TextShape 1"/>
          <p:cNvSpPr txBox="1"/>
          <p:nvPr/>
        </p:nvSpPr>
        <p:spPr>
          <a:xfrm>
            <a:off x="715680" y="907200"/>
            <a:ext cx="10478400" cy="36283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431989" algn="ctr">
              <a:lnSpc>
                <a:spcPct val="100000"/>
              </a:lnSpc>
              <a:spcAft>
                <a:spcPts val="2400"/>
              </a:spcAft>
            </a:pPr>
            <a:r>
              <a:rPr lang="en-US" sz="2400" b="0" strike="noStrike" spc="-1">
                <a:solidFill>
                  <a:srgbClr val="FFFFFF"/>
                </a:solidFill>
                <a:latin typeface="Arial"/>
              </a:rPr>
              <a:t>Questions?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TextShape 2"/>
          <p:cNvSpPr txBox="1"/>
          <p:nvPr/>
        </p:nvSpPr>
        <p:spPr>
          <a:xfrm>
            <a:off x="11582400" y="0"/>
            <a:ext cx="5110080" cy="56976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77CB5-AE10-4E3E-BA00-F54C6EFC7035}" type="slidenum">
              <a:rPr lang="en-US" sz="3200" b="0" strike="noStrike" spc="-1">
                <a:latin typeface="Times New Roman"/>
              </a:rPr>
              <a:t>24</a:t>
            </a:fld>
            <a:endParaRPr lang="en-US" sz="3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7696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16797</TotalTime>
  <Words>534</Words>
  <Application>Microsoft Office PowerPoint</Application>
  <PresentationFormat>Widescreen</PresentationFormat>
  <Paragraphs>146</Paragraphs>
  <Slides>24</Slides>
  <Notes>20</Notes>
  <HiddenSlides>8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Calibri</vt:lpstr>
      <vt:lpstr>StarSymbol</vt:lpstr>
      <vt:lpstr>Times New Roman</vt:lpstr>
      <vt:lpstr>Wingdings</vt:lpstr>
      <vt:lpstr>Office Theme</vt:lpstr>
      <vt:lpstr>Office Theme</vt:lpstr>
      <vt:lpstr>Office Theme</vt:lpstr>
      <vt:lpstr>Microsoft Excel Worksheet</vt:lpstr>
      <vt:lpstr>Worksheet</vt:lpstr>
      <vt:lpstr>Adobe 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Sangani, Neel</dc:creator>
  <cp:lastModifiedBy>Sangani, Neel</cp:lastModifiedBy>
  <cp:revision>63</cp:revision>
  <dcterms:created xsi:type="dcterms:W3CDTF">2023-07-21T14:56:39Z</dcterms:created>
  <dcterms:modified xsi:type="dcterms:W3CDTF">2023-09-05T16:09:02Z</dcterms:modified>
</cp:coreProperties>
</file>